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3"/>
  </p:notesMasterIdLst>
  <p:sldIdLst>
    <p:sldId id="256" r:id="rId2"/>
  </p:sldIdLst>
  <p:sldSz cx="9144000" cy="5143500" type="screen16x9"/>
  <p:notesSz cx="6858000" cy="9144000"/>
  <p:embeddedFontLst>
    <p:embeddedFont>
      <p:font typeface="Poppins" pitchFamily="2" charset="77"/>
      <p:regular r:id="rId4"/>
      <p:bold r:id="rId5"/>
      <p:italic r:id="rId6"/>
      <p:boldItalic r:id="rId7"/>
    </p:embeddedFont>
    <p:embeddedFont>
      <p:font typeface="Poppins ExtraBold" panose="020B0604020202020204" pitchFamily="34" charset="0"/>
      <p:bold r:id="rId8"/>
      <p:italic r:id="rId9"/>
      <p:boldItalic r:id="rId10"/>
    </p:embeddedFont>
    <p:embeddedFont>
      <p:font typeface="Poppins Medium" panose="020B0604020202020204" pitchFamily="34" charset="0"/>
      <p:regular r:id="rId11"/>
      <p:bold r:id="rId12"/>
      <p:italic r:id="rId13"/>
      <p:boldItalic r:id="rId14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B11B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52"/>
    <p:restoredTop sz="94658"/>
  </p:normalViewPr>
  <p:slideViewPr>
    <p:cSldViewPr snapToGrid="0">
      <p:cViewPr varScale="1">
        <p:scale>
          <a:sx n="160" d="100"/>
          <a:sy n="160" d="100"/>
        </p:scale>
        <p:origin x="728" y="184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5.fntdata"/><Relationship Id="rId13" Type="http://schemas.openxmlformats.org/officeDocument/2006/relationships/font" Target="fonts/font10.fntdata"/><Relationship Id="rId18" Type="http://schemas.openxmlformats.org/officeDocument/2006/relationships/tableStyles" Target="tableStyles.xml"/><Relationship Id="rId3" Type="http://schemas.openxmlformats.org/officeDocument/2006/relationships/notesMaster" Target="notesMasters/notesMaster1.xml"/><Relationship Id="rId7" Type="http://schemas.openxmlformats.org/officeDocument/2006/relationships/font" Target="fonts/font4.fntdata"/><Relationship Id="rId12" Type="http://schemas.openxmlformats.org/officeDocument/2006/relationships/font" Target="fonts/font9.fntdata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font" Target="fonts/font3.fntdata"/><Relationship Id="rId11" Type="http://schemas.openxmlformats.org/officeDocument/2006/relationships/font" Target="fonts/font8.fntdata"/><Relationship Id="rId5" Type="http://schemas.openxmlformats.org/officeDocument/2006/relationships/font" Target="fonts/font2.fntdata"/><Relationship Id="rId15" Type="http://schemas.openxmlformats.org/officeDocument/2006/relationships/presProps" Target="presProps.xml"/><Relationship Id="rId10" Type="http://schemas.openxmlformats.org/officeDocument/2006/relationships/font" Target="fonts/font7.fntdata"/><Relationship Id="rId4" Type="http://schemas.openxmlformats.org/officeDocument/2006/relationships/font" Target="fonts/font1.fntdata"/><Relationship Id="rId9" Type="http://schemas.openxmlformats.org/officeDocument/2006/relationships/font" Target="fonts/font6.fntdata"/><Relationship Id="rId14" Type="http://schemas.openxmlformats.org/officeDocument/2006/relationships/font" Target="fonts/font11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rgbClr val="AB11B7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/>
          <p:nvPr/>
        </p:nvSpPr>
        <p:spPr>
          <a:xfrm>
            <a:off x="5480900" y="-2879800"/>
            <a:ext cx="6778200" cy="635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55" name="Google Shape;55;p13" title="e18-loglo-web-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52400"/>
            <a:ext cx="1443925" cy="825925"/>
          </a:xfrm>
          <a:prstGeom prst="rect">
            <a:avLst/>
          </a:prstGeom>
          <a:noFill/>
          <a:ln>
            <a:noFill/>
          </a:ln>
        </p:spPr>
      </p:pic>
      <p:pic>
        <p:nvPicPr>
          <p:cNvPr id="56" name="Google Shape;56;p13" title="nhs-logo.jpe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016524" y="303335"/>
            <a:ext cx="799303" cy="438131"/>
          </a:xfrm>
          <a:prstGeom prst="rect">
            <a:avLst/>
          </a:prstGeom>
          <a:noFill/>
          <a:ln>
            <a:noFill/>
          </a:ln>
        </p:spPr>
      </p:pic>
      <p:sp>
        <p:nvSpPr>
          <p:cNvPr id="57" name="Google Shape;57;p13"/>
          <p:cNvSpPr txBox="1"/>
          <p:nvPr/>
        </p:nvSpPr>
        <p:spPr>
          <a:xfrm>
            <a:off x="7294513" y="694035"/>
            <a:ext cx="1599550" cy="4028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7550" tIns="77550" rIns="77550" bIns="77550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dirty="0">
                <a:solidFill>
                  <a:srgbClr val="1C5CB1"/>
                </a:solidFill>
                <a:latin typeface="Poppins"/>
                <a:ea typeface="Poppins"/>
                <a:cs typeface="Poppins"/>
                <a:sym typeface="Poppins"/>
              </a:rPr>
              <a:t>[NHS Org Name Placeholder]</a:t>
            </a:r>
            <a:endParaRPr sz="800" dirty="0">
              <a:solidFill>
                <a:srgbClr val="1C5CB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8" name="Google Shape;58;p13"/>
          <p:cNvSpPr/>
          <p:nvPr/>
        </p:nvSpPr>
        <p:spPr>
          <a:xfrm>
            <a:off x="-3235250" y="4134700"/>
            <a:ext cx="6294600" cy="3602100"/>
          </a:xfrm>
          <a:prstGeom prst="ellipse">
            <a:avLst/>
          </a:prstGeom>
          <a:solidFill>
            <a:srgbClr val="D5F7FA"/>
          </a:solidFill>
          <a:ln w="19050" cap="flat" cmpd="sng">
            <a:solidFill>
              <a:srgbClr val="2DD7E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" name="Google Shape;59;p13"/>
          <p:cNvSpPr txBox="1"/>
          <p:nvPr/>
        </p:nvSpPr>
        <p:spPr>
          <a:xfrm>
            <a:off x="155986" y="1007024"/>
            <a:ext cx="5400000" cy="43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chemeClr val="lt1"/>
                </a:solidFill>
                <a:latin typeface="Poppins ExtraBold"/>
                <a:ea typeface="Poppins ExtraBold"/>
                <a:cs typeface="Poppins ExtraBold"/>
                <a:sym typeface="Poppins ExtraBold"/>
              </a:rPr>
              <a:t>[Headline Statement Placeholder]</a:t>
            </a:r>
            <a:endParaRPr sz="1200" dirty="0">
              <a:solidFill>
                <a:schemeClr val="lt1"/>
              </a:solidFill>
              <a:latin typeface="Poppins ExtraBold"/>
              <a:ea typeface="Poppins ExtraBold"/>
              <a:cs typeface="Poppins ExtraBold"/>
              <a:sym typeface="Poppins ExtraBold"/>
            </a:endParaRPr>
          </a:p>
        </p:txBody>
      </p:sp>
      <p:sp>
        <p:nvSpPr>
          <p:cNvPr id="60" name="Google Shape;60;p13"/>
          <p:cNvSpPr txBox="1"/>
          <p:nvPr/>
        </p:nvSpPr>
        <p:spPr>
          <a:xfrm>
            <a:off x="155002" y="1239125"/>
            <a:ext cx="5400000" cy="43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dirty="0">
                <a:solidFill>
                  <a:schemeClr val="lt2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Process Name: [Waiting List Validation]</a:t>
            </a:r>
            <a:endParaRPr sz="1000" dirty="0">
              <a:solidFill>
                <a:schemeClr val="lt2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sp>
        <p:nvSpPr>
          <p:cNvPr id="61" name="Google Shape;61;p13"/>
          <p:cNvSpPr txBox="1"/>
          <p:nvPr/>
        </p:nvSpPr>
        <p:spPr>
          <a:xfrm>
            <a:off x="5570224" y="1010929"/>
            <a:ext cx="3362656" cy="43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rgbClr val="AB11B7"/>
                </a:solidFill>
                <a:latin typeface="Poppins ExtraBold"/>
                <a:ea typeface="Poppins ExtraBold"/>
                <a:cs typeface="Poppins ExtraBold"/>
                <a:sym typeface="Poppins ExtraBold"/>
              </a:rPr>
              <a:t>[Process Category Placeholder]</a:t>
            </a:r>
            <a:endParaRPr sz="1200" dirty="0">
              <a:solidFill>
                <a:srgbClr val="AB11B7"/>
              </a:solidFill>
              <a:latin typeface="Poppins ExtraBold"/>
              <a:ea typeface="Poppins ExtraBold"/>
              <a:cs typeface="Poppins ExtraBold"/>
              <a:sym typeface="Poppins ExtraBold"/>
            </a:endParaRPr>
          </a:p>
        </p:txBody>
      </p:sp>
      <p:sp>
        <p:nvSpPr>
          <p:cNvPr id="62" name="Google Shape;62;p13"/>
          <p:cNvSpPr txBox="1"/>
          <p:nvPr/>
        </p:nvSpPr>
        <p:spPr>
          <a:xfrm>
            <a:off x="5688854" y="1244964"/>
            <a:ext cx="3240000" cy="43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dirty="0">
                <a:solidFill>
                  <a:schemeClr val="accent3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Systems Used: [PAS | RADAR | Patient Hub]</a:t>
            </a:r>
            <a:endParaRPr sz="1000" dirty="0">
              <a:solidFill>
                <a:schemeClr val="accent3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sp>
        <p:nvSpPr>
          <p:cNvPr id="63" name="Google Shape;63;p13"/>
          <p:cNvSpPr/>
          <p:nvPr/>
        </p:nvSpPr>
        <p:spPr>
          <a:xfrm>
            <a:off x="249938" y="1828165"/>
            <a:ext cx="2063700" cy="3012000"/>
          </a:xfrm>
          <a:prstGeom prst="roundRect">
            <a:avLst>
              <a:gd name="adj" fmla="val 16667"/>
            </a:avLst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4" name="Google Shape;64;p13"/>
          <p:cNvSpPr/>
          <p:nvPr/>
        </p:nvSpPr>
        <p:spPr>
          <a:xfrm>
            <a:off x="249938" y="1720475"/>
            <a:ext cx="2063700" cy="680100"/>
          </a:xfrm>
          <a:prstGeom prst="roundRect">
            <a:avLst>
              <a:gd name="adj" fmla="val 39345"/>
            </a:avLst>
          </a:prstGeom>
          <a:solidFill>
            <a:srgbClr val="FFF6E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5" name="Google Shape;65;p13"/>
          <p:cNvSpPr/>
          <p:nvPr/>
        </p:nvSpPr>
        <p:spPr>
          <a:xfrm>
            <a:off x="249938" y="1953090"/>
            <a:ext cx="2063700" cy="491100"/>
          </a:xfrm>
          <a:prstGeom prst="roundRect">
            <a:avLst>
              <a:gd name="adj" fmla="val 0"/>
            </a:avLst>
          </a:prstGeom>
          <a:solidFill>
            <a:srgbClr val="FFF6E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6" name="Google Shape;66;p13"/>
          <p:cNvSpPr txBox="1"/>
          <p:nvPr/>
        </p:nvSpPr>
        <p:spPr>
          <a:xfrm>
            <a:off x="249938" y="2090086"/>
            <a:ext cx="20637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 b="1">
                <a:solidFill>
                  <a:srgbClr val="DA7C29"/>
                </a:solidFill>
                <a:latin typeface="Poppins"/>
                <a:ea typeface="Poppins"/>
                <a:cs typeface="Poppins"/>
                <a:sym typeface="Poppins"/>
              </a:rPr>
              <a:t>MANUAL PROCESS</a:t>
            </a:r>
            <a:endParaRPr sz="1100" b="1">
              <a:solidFill>
                <a:srgbClr val="DA7C29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pic>
        <p:nvPicPr>
          <p:cNvPr id="67" name="Google Shape;67;p13" title="Untitled design (4)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093845" y="1782805"/>
            <a:ext cx="375811" cy="375303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3"/>
          <p:cNvSpPr txBox="1"/>
          <p:nvPr/>
        </p:nvSpPr>
        <p:spPr>
          <a:xfrm>
            <a:off x="286775" y="2432776"/>
            <a:ext cx="1989900" cy="221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AB11B7"/>
                </a:solidFill>
                <a:latin typeface="Poppins"/>
                <a:ea typeface="Poppins"/>
                <a:cs typeface="Poppins"/>
                <a:sym typeface="Poppins"/>
              </a:rPr>
              <a:t>[Manual processes placeholder]</a:t>
            </a:r>
            <a:endParaRPr sz="900" dirty="0">
              <a:solidFill>
                <a:srgbClr val="AB11B7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69" name="Google Shape;69;p13"/>
          <p:cNvSpPr/>
          <p:nvPr/>
        </p:nvSpPr>
        <p:spPr>
          <a:xfrm>
            <a:off x="2443413" y="1828165"/>
            <a:ext cx="2063700" cy="3012000"/>
          </a:xfrm>
          <a:prstGeom prst="roundRect">
            <a:avLst>
              <a:gd name="adj" fmla="val 16667"/>
            </a:avLst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0" name="Google Shape;70;p13"/>
          <p:cNvSpPr/>
          <p:nvPr/>
        </p:nvSpPr>
        <p:spPr>
          <a:xfrm>
            <a:off x="2443413" y="1720475"/>
            <a:ext cx="2063700" cy="680100"/>
          </a:xfrm>
          <a:prstGeom prst="roundRect">
            <a:avLst>
              <a:gd name="adj" fmla="val 39345"/>
            </a:avLst>
          </a:prstGeom>
          <a:solidFill>
            <a:srgbClr val="D7F4F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1" name="Google Shape;71;p13"/>
          <p:cNvSpPr/>
          <p:nvPr/>
        </p:nvSpPr>
        <p:spPr>
          <a:xfrm>
            <a:off x="2443413" y="1953090"/>
            <a:ext cx="2063700" cy="491100"/>
          </a:xfrm>
          <a:prstGeom prst="roundRect">
            <a:avLst>
              <a:gd name="adj" fmla="val 0"/>
            </a:avLst>
          </a:prstGeom>
          <a:solidFill>
            <a:srgbClr val="D7F4F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2" name="Google Shape;72;p13"/>
          <p:cNvSpPr txBox="1"/>
          <p:nvPr/>
        </p:nvSpPr>
        <p:spPr>
          <a:xfrm>
            <a:off x="2443413" y="2090086"/>
            <a:ext cx="20637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 b="1">
                <a:solidFill>
                  <a:srgbClr val="258BAD"/>
                </a:solidFill>
                <a:latin typeface="Poppins"/>
                <a:ea typeface="Poppins"/>
                <a:cs typeface="Poppins"/>
                <a:sym typeface="Poppins"/>
              </a:rPr>
              <a:t>CHALLENGES</a:t>
            </a:r>
            <a:endParaRPr sz="1100" b="1">
              <a:solidFill>
                <a:srgbClr val="258BAD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73" name="Google Shape;73;p13"/>
          <p:cNvSpPr txBox="1"/>
          <p:nvPr/>
        </p:nvSpPr>
        <p:spPr>
          <a:xfrm>
            <a:off x="2480250" y="2432776"/>
            <a:ext cx="1989900" cy="22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AB11B7"/>
                </a:solidFill>
                <a:latin typeface="Poppins"/>
                <a:ea typeface="Poppins"/>
                <a:cs typeface="Poppins"/>
                <a:sym typeface="Poppins"/>
              </a:rPr>
              <a:t>[Challenges placeholder]</a:t>
            </a:r>
            <a:endParaRPr sz="900" dirty="0">
              <a:solidFill>
                <a:srgbClr val="AB11B7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74" name="Google Shape;74;p13"/>
          <p:cNvSpPr/>
          <p:nvPr/>
        </p:nvSpPr>
        <p:spPr>
          <a:xfrm>
            <a:off x="4636888" y="1828165"/>
            <a:ext cx="2063700" cy="3012000"/>
          </a:xfrm>
          <a:prstGeom prst="roundRect">
            <a:avLst>
              <a:gd name="adj" fmla="val 16667"/>
            </a:avLst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5" name="Google Shape;75;p13"/>
          <p:cNvSpPr/>
          <p:nvPr/>
        </p:nvSpPr>
        <p:spPr>
          <a:xfrm>
            <a:off x="4636888" y="1720475"/>
            <a:ext cx="2063700" cy="680100"/>
          </a:xfrm>
          <a:prstGeom prst="roundRect">
            <a:avLst>
              <a:gd name="adj" fmla="val 39345"/>
            </a:avLst>
          </a:prstGeom>
          <a:solidFill>
            <a:srgbClr val="F0E1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6" name="Google Shape;76;p13"/>
          <p:cNvSpPr/>
          <p:nvPr/>
        </p:nvSpPr>
        <p:spPr>
          <a:xfrm>
            <a:off x="4636888" y="1953090"/>
            <a:ext cx="2063700" cy="491100"/>
          </a:xfrm>
          <a:prstGeom prst="roundRect">
            <a:avLst>
              <a:gd name="adj" fmla="val 0"/>
            </a:avLst>
          </a:prstGeom>
          <a:solidFill>
            <a:srgbClr val="F0E1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7" name="Google Shape;77;p13"/>
          <p:cNvSpPr txBox="1"/>
          <p:nvPr/>
        </p:nvSpPr>
        <p:spPr>
          <a:xfrm>
            <a:off x="4636888" y="2090086"/>
            <a:ext cx="20637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 b="1">
                <a:solidFill>
                  <a:srgbClr val="AB11B7"/>
                </a:solidFill>
                <a:latin typeface="Poppins"/>
                <a:ea typeface="Poppins"/>
                <a:cs typeface="Poppins"/>
                <a:sym typeface="Poppins"/>
              </a:rPr>
              <a:t>RPA SOLUTION</a:t>
            </a:r>
            <a:endParaRPr sz="1100" b="1">
              <a:solidFill>
                <a:srgbClr val="AB11B7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78" name="Google Shape;78;p13"/>
          <p:cNvSpPr txBox="1"/>
          <p:nvPr/>
        </p:nvSpPr>
        <p:spPr>
          <a:xfrm>
            <a:off x="4673725" y="2432776"/>
            <a:ext cx="1989900" cy="22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 sz="900" dirty="0">
                <a:solidFill>
                  <a:srgbClr val="AB11B7"/>
                </a:solidFill>
                <a:latin typeface="Poppins"/>
                <a:ea typeface="Poppins"/>
                <a:cs typeface="Poppins"/>
                <a:sym typeface="Poppins"/>
              </a:rPr>
              <a:t>[RPA Solution placeholder]</a:t>
            </a:r>
            <a:endParaRPr sz="900" dirty="0">
              <a:solidFill>
                <a:srgbClr val="AB11B7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79" name="Google Shape;79;p13"/>
          <p:cNvSpPr/>
          <p:nvPr/>
        </p:nvSpPr>
        <p:spPr>
          <a:xfrm>
            <a:off x="6830363" y="1828165"/>
            <a:ext cx="2063700" cy="3012000"/>
          </a:xfrm>
          <a:prstGeom prst="roundRect">
            <a:avLst>
              <a:gd name="adj" fmla="val 16667"/>
            </a:avLst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0" name="Google Shape;80;p13"/>
          <p:cNvSpPr/>
          <p:nvPr/>
        </p:nvSpPr>
        <p:spPr>
          <a:xfrm>
            <a:off x="6830363" y="1720475"/>
            <a:ext cx="2063700" cy="680100"/>
          </a:xfrm>
          <a:prstGeom prst="roundRect">
            <a:avLst>
              <a:gd name="adj" fmla="val 39345"/>
            </a:avLst>
          </a:prstGeom>
          <a:solidFill>
            <a:srgbClr val="D7E7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1" name="Google Shape;81;p13"/>
          <p:cNvSpPr/>
          <p:nvPr/>
        </p:nvSpPr>
        <p:spPr>
          <a:xfrm>
            <a:off x="6830363" y="1953090"/>
            <a:ext cx="2063700" cy="491100"/>
          </a:xfrm>
          <a:prstGeom prst="roundRect">
            <a:avLst>
              <a:gd name="adj" fmla="val 0"/>
            </a:avLst>
          </a:prstGeom>
          <a:solidFill>
            <a:srgbClr val="D7E7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13"/>
          <p:cNvSpPr txBox="1"/>
          <p:nvPr/>
        </p:nvSpPr>
        <p:spPr>
          <a:xfrm>
            <a:off x="6830363" y="2090086"/>
            <a:ext cx="20637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 b="1">
                <a:solidFill>
                  <a:srgbClr val="4F62E2"/>
                </a:solidFill>
                <a:latin typeface="Poppins"/>
                <a:ea typeface="Poppins"/>
                <a:cs typeface="Poppins"/>
                <a:sym typeface="Poppins"/>
              </a:rPr>
              <a:t>BENEFITS</a:t>
            </a:r>
            <a:endParaRPr sz="1100" b="1">
              <a:solidFill>
                <a:srgbClr val="4F62E2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3" name="Google Shape;83;p13"/>
          <p:cNvSpPr txBox="1"/>
          <p:nvPr/>
        </p:nvSpPr>
        <p:spPr>
          <a:xfrm>
            <a:off x="6867200" y="2432776"/>
            <a:ext cx="1989900" cy="226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GB" sz="900" dirty="0">
                <a:solidFill>
                  <a:srgbClr val="AB11B7"/>
                </a:solidFill>
                <a:latin typeface="Poppins"/>
                <a:ea typeface="Poppins"/>
                <a:cs typeface="Poppins"/>
                <a:sym typeface="Poppins"/>
              </a:rPr>
              <a:t>[Benefits placeholder]</a:t>
            </a:r>
            <a:endParaRPr sz="900" dirty="0">
              <a:solidFill>
                <a:srgbClr val="AB11B7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pic>
        <p:nvPicPr>
          <p:cNvPr id="84" name="Google Shape;84;p13" title="Untitled design (5).pn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3287375" y="1782544"/>
            <a:ext cx="375800" cy="375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5" name="Google Shape;85;p13" title="Untitled design (6).png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5480850" y="1777916"/>
            <a:ext cx="375800" cy="375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6" name="Google Shape;86;p13" title="Untitled design (7).png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7674325" y="1782798"/>
            <a:ext cx="375300" cy="3753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59</Words>
  <Application>Microsoft Macintosh PowerPoint</Application>
  <PresentationFormat>On-screen Show (16:9)</PresentationFormat>
  <Paragraphs>13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Poppins Medium</vt:lpstr>
      <vt:lpstr>Poppins ExtraBold</vt:lpstr>
      <vt:lpstr>Poppins</vt:lpstr>
      <vt:lpstr>Simple Light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Luc Elsby</cp:lastModifiedBy>
  <cp:revision>6</cp:revision>
  <dcterms:modified xsi:type="dcterms:W3CDTF">2025-10-30T16:44:38Z</dcterms:modified>
</cp:coreProperties>
</file>